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readout covers the Meeting Room Booking Study at Harborview Group headquarters: six interviews held on 2026-09-15 to 2026-09-17 and a pull of room usage data for 2026-09-08 to 2026-09-19. All names and data are fictional.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office manager had reported that rooms look booked but are empty. We chose six people who use the rooms in different ways. We asked three questions: what the main pain points are when booking, how people get around them, and what we did not expect. The usage data covers all 8 rooms over 10 working days.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the 10 working days, 352 hours were booked and 243 were used, leaving 109 unused, which is 31.0%. 78 of 268 bookings had no one in the room within the first 15 minutes, which is 29.1%. This is the scale of the problem the office manager described. The data does not say why.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of six people had walked up to a booked room and found it empty (F-01). Four said RoomBook does not show seats or equipment, and two of them had booked a room that was too small (F-02). Four book in RoomBook and then add the room to the Outlook invite by hand, and a fifth avoids RoomBook (F-03). Three hold recurring bookings that can only be cancelled as a whole series (F-04). With six interviews these counts show the kinds of problems that exist, not how common they are across the company.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empty rooms, P02 and P03 look in first, P03 and P05 message the booker, P05 trusts the live-occupancy tablet on floor 3, and P02 and P04 take an empty room. The office manager, P01, keeps a pinned Teams message with each room's seats and screen, updated when someone complains. For the calendar gap, P02, P03 and P06 type the room name into the invite, P05 updates calendars herself, and P04 asks P01 to book for her. For recurring series, P01 and P02 leave skipped dates booked, and P05 cancels and rebooks.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result we did not expect. We expected people to describe other people's empty bookings. Instead four of six described their own: holding a room until they know they do not need it, booking a small room as backup, or booking two rooms and cancelling one. The new hire picked up the habit from a colleague in the first weeks. The loop on the slide is our reading, not something participants said, and we did not test it. See F-05.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4-seat rooms (Harbor, Anchor, Keel) had 42 of 104 booked hours unused, which is 40.4%. The 6-seat rooms had 30 of 100 unused (30.0%) and the larger rooms 37 of 148 (25.0%). Keel had the highest unused share at 44.1% and Bridge the lowest at 18.4%. This fits one participant's habit of booking a small room as backup, but it does not prove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ideas come straight from the pain points and are not decisions or commitments. The one most likely to change behavior is automatic release, because defensive booking exists since people cannot easily get a room back. The open questions could not be answered with six interviews and two weeks of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participants cannot represent about 400 staff. The sensors detect presence, so someone who stepped out of a booked room still counts as using it. The interview notes (N-01) are the source for reasons, and the usage summary (A-01) for the numbers.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645920"/>
            <a:ext cx="10698480" cy="1828800"/>
          </a:xfrm>
        </p:spPr>
        <p:txBody>
          <a:bodyPr wrap="square" anchor="t"/>
          <a:lstStyle/>
          <a:p>
            <a:pPr algn="l"/>
            <a:r>
              <a:rPr sz="3600" b="1">
                <a:solidFill>
                  <a:srgbClr val="1F2A44"/>
                </a:solidFill>
              </a:rPr>
              <a:t>Why booked meeting rooms sit empty at Harborview, from six interviews and two weeks of usage data</a:t>
            </a:r>
          </a:p>
        </p:txBody>
      </p:sp>
      <p:sp>
        <p:nvSpPr>
          <p:cNvPr id="3" name="Subtitle 2"/>
          <p:cNvSpPr>
            <a:spLocks noGrp="1"/>
          </p:cNvSpPr>
          <p:nvPr>
            <p:ph type="subTitle" idx="1"/>
          </p:nvPr>
        </p:nvSpPr>
        <p:spPr>
          <a:xfrm>
            <a:off x="731520" y="3749039"/>
            <a:ext cx="10698480" cy="1371600"/>
          </a:xfrm>
        </p:spPr>
        <p:txBody>
          <a:bodyPr wrap="square"/>
          <a:lstStyle/>
          <a:p>
            <a:pPr algn="l">
              <a:spcAft>
                <a:spcPts val="800"/>
              </a:spcAft>
            </a:pPr>
            <a:r>
              <a:rPr sz="2400"/>
              <a:t>Meeting Room Booking Study, S-01</a:t>
            </a:r>
          </a:p>
          <a:p>
            <a:pPr algn="l">
              <a:spcAft>
                <a:spcPts val="800"/>
              </a:spcAft>
            </a:pPr>
            <a:r>
              <a:rPr sz="2400"/>
              <a:t>Maya Alvarez, readout of 2026-10-02</a:t>
            </a:r>
          </a:p>
        </p:txBody>
      </p:sp>
      <p:sp>
        <p:nvSpPr>
          <p:cNvPr id="4" name="Footer"/>
          <p:cNvSpPr txBox="1"/>
          <p:nvPr/>
        </p:nvSpPr>
        <p:spPr>
          <a:xfrm>
            <a:off x="548640" y="6400800"/>
            <a:ext cx="11064240" cy="274320"/>
          </a:xfrm>
          <a:prstGeom prst="rect">
            <a:avLst/>
          </a:prstGeom>
          <a:noFill/>
        </p:spPr>
        <p:txBody>
          <a:bodyPr wrap="none">
            <a:spAutoFit/>
          </a:bodyPr>
          <a:lstStyle/>
          <a:p>
            <a:r>
              <a:rPr sz="1100">
                <a:solidFill>
                  <a:srgbClr val="595959"/>
                </a:solidFill>
              </a:rPr>
              <a:t>Fictional demo data  |  S-01 Meeting Room Booking Study  |  R-01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188720"/>
          </a:xfrm>
        </p:spPr>
        <p:txBody>
          <a:bodyPr wrap="square" anchor="t"/>
          <a:lstStyle/>
          <a:p>
            <a:pPr algn="l"/>
            <a:r>
              <a:rPr sz="3000" b="1">
                <a:solidFill>
                  <a:srgbClr val="1F2A44"/>
                </a:solidFill>
              </a:rPr>
              <a:t>We interviewed six people and checked two weeks of usage for all 8 rooms</a:t>
            </a:r>
          </a:p>
        </p:txBody>
      </p:sp>
      <p:sp>
        <p:nvSpPr>
          <p:cNvPr id="3" name="Content Placeholder 2"/>
          <p:cNvSpPr>
            <a:spLocks noGrp="1"/>
          </p:cNvSpPr>
          <p:nvPr>
            <p:ph idx="1"/>
          </p:nvPr>
        </p:nvSpPr>
        <p:spPr>
          <a:xfrm>
            <a:off x="548640" y="1737360"/>
            <a:ext cx="11064240" cy="4480560"/>
          </a:xfrm>
        </p:spPr>
        <p:txBody>
          <a:bodyPr wrap="square"/>
          <a:lstStyle/>
          <a:p>
            <a:pPr>
              <a:spcAft>
                <a:spcPts val="800"/>
              </a:spcAft>
            </a:pPr>
            <a:r>
              <a:rPr sz="2400"/>
              <a:t>6 interviews: office manager, project manager, software engineer, sales representative, executive assistant, new hire</a:t>
            </a:r>
          </a:p>
          <a:p>
            <a:pPr>
              <a:spcAft>
                <a:spcPts val="800"/>
              </a:spcAft>
            </a:pPr>
            <a:r>
              <a:rPr sz="2400"/>
              <a:t>Usage data: bookings and door-sensor occupancy, 8 rooms, 10 working days</a:t>
            </a:r>
          </a:p>
          <a:p>
            <a:pPr>
              <a:spcAft>
                <a:spcPts val="800"/>
              </a:spcAft>
            </a:pPr>
            <a:r>
              <a:rPr sz="2400"/>
              <a:t>Questions: what are the pain points, how do people work around them, what surprised us</a:t>
            </a:r>
          </a:p>
        </p:txBody>
      </p:sp>
      <p:sp>
        <p:nvSpPr>
          <p:cNvPr id="4" name="Footer"/>
          <p:cNvSpPr txBox="1"/>
          <p:nvPr/>
        </p:nvSpPr>
        <p:spPr>
          <a:xfrm>
            <a:off x="548640" y="6400800"/>
            <a:ext cx="11064240" cy="274320"/>
          </a:xfrm>
          <a:prstGeom prst="rect">
            <a:avLst/>
          </a:prstGeom>
          <a:noFill/>
        </p:spPr>
        <p:txBody>
          <a:bodyPr wrap="none">
            <a:spAutoFit/>
          </a:bodyPr>
          <a:lstStyle/>
          <a:p>
            <a:r>
              <a:rPr sz="1100">
                <a:solidFill>
                  <a:srgbClr val="595959"/>
                </a:solidFill>
              </a:rPr>
              <a:t>Fictional demo data  |  S-01 Meeting Room Booking Study  |  R-01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188720"/>
          </a:xfrm>
        </p:spPr>
        <p:txBody>
          <a:bodyPr wrap="square" anchor="t"/>
          <a:lstStyle/>
          <a:p>
            <a:pPr algn="l"/>
            <a:r>
              <a:rPr sz="3000" b="1">
                <a:solidFill>
                  <a:srgbClr val="1F2A44"/>
                </a:solidFill>
              </a:rPr>
              <a:t>About 31% of booked room hours went unused (109 of 352 hours)</a:t>
            </a:r>
          </a:p>
        </p:txBody>
      </p:sp>
      <p:sp>
        <p:nvSpPr>
          <p:cNvPr id="3" name="Content Placeholder 2"/>
          <p:cNvSpPr>
            <a:spLocks noGrp="1"/>
          </p:cNvSpPr>
          <p:nvPr>
            <p:ph idx="1"/>
          </p:nvPr>
        </p:nvSpPr>
        <p:spPr>
          <a:xfrm>
            <a:off x="548640" y="1737360"/>
            <a:ext cx="11064240" cy="4480560"/>
          </a:xfrm>
        </p:spPr>
        <p:txBody>
          <a:bodyPr wrap="square"/>
          <a:lstStyle/>
          <a:p>
            <a:pPr>
              <a:spcAft>
                <a:spcPts val="800"/>
              </a:spcAft>
            </a:pPr>
            <a:r>
              <a:rPr sz="2400"/>
              <a:t>109 of 352 booked hours had no one in the room (31.0%)</a:t>
            </a:r>
          </a:p>
          <a:p>
            <a:pPr>
              <a:spcAft>
                <a:spcPts val="800"/>
              </a:spcAft>
            </a:pPr>
            <a:r>
              <a:rPr sz="2400"/>
              <a:t>78 of 268 bookings (29.1%) were no-shows: no one detected in the first 15 minutes</a:t>
            </a:r>
          </a:p>
          <a:p>
            <a:pPr>
              <a:spcAft>
                <a:spcPts val="800"/>
              </a:spcAft>
            </a:pPr>
            <a:r>
              <a:rPr sz="2400"/>
              <a:t>Source: A-01</a:t>
            </a:r>
          </a:p>
        </p:txBody>
      </p:sp>
      <p:sp>
        <p:nvSpPr>
          <p:cNvPr id="4" name="Footer"/>
          <p:cNvSpPr txBox="1"/>
          <p:nvPr/>
        </p:nvSpPr>
        <p:spPr>
          <a:xfrm>
            <a:off x="548640" y="6400800"/>
            <a:ext cx="11064240" cy="274320"/>
          </a:xfrm>
          <a:prstGeom prst="rect">
            <a:avLst/>
          </a:prstGeom>
          <a:noFill/>
        </p:spPr>
        <p:txBody>
          <a:bodyPr wrap="none">
            <a:spAutoFit/>
          </a:bodyPr>
          <a:lstStyle/>
          <a:p>
            <a:r>
              <a:rPr sz="1100">
                <a:solidFill>
                  <a:srgbClr val="595959"/>
                </a:solidFill>
              </a:rPr>
              <a:t>Fictional demo data  |  S-01 Meeting Room Booking Study  |  R-01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188720"/>
          </a:xfrm>
        </p:spPr>
        <p:txBody>
          <a:bodyPr wrap="square" anchor="t"/>
          <a:lstStyle/>
          <a:p>
            <a:pPr algn="l"/>
            <a:r>
              <a:rPr sz="3000" b="1">
                <a:solidFill>
                  <a:srgbClr val="1F2A44"/>
                </a:solidFill>
              </a:rPr>
              <a:t>Four pain points came up; booked-but-empty rooms was the most common (5 of 6 people)</a:t>
            </a:r>
          </a:p>
        </p:txBody>
      </p:sp>
      <p:graphicFrame>
        <p:nvGraphicFramePr>
          <p:cNvPr id="3" name="Data table" descr="Table with columns: Pain point, People, Finding. 4 data rows."/>
          <p:cNvGraphicFramePr>
            <a:graphicFrameLocks noGrp="1"/>
          </p:cNvGraphicFramePr>
          <p:nvPr/>
        </p:nvGraphicFramePr>
        <p:xfrm>
          <a:off x="548640" y="1737360"/>
          <a:ext cx="11064239" cy="2743200"/>
        </p:xfrm>
        <a:graphic>
          <a:graphicData uri="http://schemas.openxmlformats.org/drawingml/2006/table">
            <a:tbl>
              <a:tblPr firstRow="1" bandRow="1">
                <a:tableStyleId>{5C22544A-7EE6-4342-B048-85BDC9FD1C3A}</a:tableStyleId>
              </a:tblPr>
              <a:tblGrid>
                <a:gridCol w="6124847"/>
                <a:gridCol w="3655150"/>
                <a:gridCol w="1284242"/>
              </a:tblGrid>
              <a:tr h="548640">
                <a:tc>
                  <a:txBody>
                    <a:bodyPr/>
                    <a:lstStyle/>
                    <a:p>
                      <a:r>
                        <a:rPr sz="1800"/>
                        <a:t>Pain point</a:t>
                      </a:r>
                    </a:p>
                  </a:txBody>
                  <a:tcPr/>
                </a:tc>
                <a:tc>
                  <a:txBody>
                    <a:bodyPr/>
                    <a:lstStyle/>
                    <a:p>
                      <a:r>
                        <a:rPr sz="1800"/>
                        <a:t>People</a:t>
                      </a:r>
                    </a:p>
                  </a:txBody>
                  <a:tcPr/>
                </a:tc>
                <a:tc>
                  <a:txBody>
                    <a:bodyPr/>
                    <a:lstStyle/>
                    <a:p>
                      <a:r>
                        <a:rPr sz="1800"/>
                        <a:t>Finding</a:t>
                      </a:r>
                    </a:p>
                  </a:txBody>
                  <a:tcPr/>
                </a:tc>
              </a:tr>
              <a:tr h="548640">
                <a:tc>
                  <a:txBody>
                    <a:bodyPr/>
                    <a:lstStyle/>
                    <a:p>
                      <a:r>
                        <a:rPr sz="1800"/>
                        <a:t>Booked rooms sit empty</a:t>
                      </a:r>
                    </a:p>
                  </a:txBody>
                  <a:tcPr/>
                </a:tc>
                <a:tc>
                  <a:txBody>
                    <a:bodyPr/>
                    <a:lstStyle/>
                    <a:p>
                      <a:r>
                        <a:rPr sz="1800"/>
                        <a:t>5 of 6</a:t>
                      </a:r>
                    </a:p>
                  </a:txBody>
                  <a:tcPr/>
                </a:tc>
                <a:tc>
                  <a:txBody>
                    <a:bodyPr/>
                    <a:lstStyle/>
                    <a:p>
                      <a:r>
                        <a:rPr sz="1800"/>
                        <a:t>F-01</a:t>
                      </a:r>
                    </a:p>
                  </a:txBody>
                  <a:tcPr/>
                </a:tc>
              </a:tr>
              <a:tr h="548640">
                <a:tc>
                  <a:txBody>
                    <a:bodyPr/>
                    <a:lstStyle/>
                    <a:p>
                      <a:r>
                        <a:rPr sz="1800"/>
                        <a:t>Room size and equipment not shown</a:t>
                      </a:r>
                    </a:p>
                  </a:txBody>
                  <a:tcPr/>
                </a:tc>
                <a:tc>
                  <a:txBody>
                    <a:bodyPr/>
                    <a:lstStyle/>
                    <a:p>
                      <a:r>
                        <a:rPr sz="1800"/>
                        <a:t>4 of 6</a:t>
                      </a:r>
                    </a:p>
                  </a:txBody>
                  <a:tcPr/>
                </a:tc>
                <a:tc>
                  <a:txBody>
                    <a:bodyPr/>
                    <a:lstStyle/>
                    <a:p>
                      <a:r>
                        <a:rPr sz="1800"/>
                        <a:t>F-02</a:t>
                      </a:r>
                    </a:p>
                  </a:txBody>
                  <a:tcPr/>
                </a:tc>
              </a:tr>
              <a:tr h="548640">
                <a:tc>
                  <a:txBody>
                    <a:bodyPr/>
                    <a:lstStyle/>
                    <a:p>
                      <a:r>
                        <a:rPr sz="1800"/>
                        <a:t>Booking and calendar invite are separate steps</a:t>
                      </a:r>
                    </a:p>
                  </a:txBody>
                  <a:tcPr/>
                </a:tc>
                <a:tc>
                  <a:txBody>
                    <a:bodyPr/>
                    <a:lstStyle/>
                    <a:p>
                      <a:r>
                        <a:rPr sz="1800"/>
                        <a:t>4 of 6 (1 more avoids RoomBook)</a:t>
                      </a:r>
                    </a:p>
                  </a:txBody>
                  <a:tcPr/>
                </a:tc>
                <a:tc>
                  <a:txBody>
                    <a:bodyPr/>
                    <a:lstStyle/>
                    <a:p>
                      <a:r>
                        <a:rPr sz="1800"/>
                        <a:t>F-03</a:t>
                      </a:r>
                    </a:p>
                  </a:txBody>
                  <a:tcPr/>
                </a:tc>
              </a:tr>
              <a:tr h="548640">
                <a:tc>
                  <a:txBody>
                    <a:bodyPr/>
                    <a:lstStyle/>
                    <a:p>
                      <a:r>
                        <a:rPr sz="1800"/>
                        <a:t>Recurring bookings cannot be released one date at a time</a:t>
                      </a:r>
                    </a:p>
                  </a:txBody>
                  <a:tcPr/>
                </a:tc>
                <a:tc>
                  <a:txBody>
                    <a:bodyPr/>
                    <a:lstStyle/>
                    <a:p>
                      <a:r>
                        <a:rPr sz="1800"/>
                        <a:t>3 of 6</a:t>
                      </a:r>
                    </a:p>
                  </a:txBody>
                  <a:tcPr/>
                </a:tc>
                <a:tc>
                  <a:txBody>
                    <a:bodyPr/>
                    <a:lstStyle/>
                    <a:p>
                      <a:r>
                        <a:rPr sz="1800"/>
                        <a:t>F-04</a:t>
                      </a:r>
                    </a:p>
                  </a:txBody>
                  <a:tcPr/>
                </a:tc>
              </a:tr>
            </a:tbl>
          </a:graphicData>
        </a:graphic>
      </p:graphicFrame>
      <p:sp>
        <p:nvSpPr>
          <p:cNvPr id="4" name="Footer"/>
          <p:cNvSpPr txBox="1"/>
          <p:nvPr/>
        </p:nvSpPr>
        <p:spPr>
          <a:xfrm>
            <a:off x="548640" y="6400800"/>
            <a:ext cx="11064240" cy="274320"/>
          </a:xfrm>
          <a:prstGeom prst="rect">
            <a:avLst/>
          </a:prstGeom>
          <a:noFill/>
        </p:spPr>
        <p:txBody>
          <a:bodyPr wrap="none">
            <a:spAutoFit/>
          </a:bodyPr>
          <a:lstStyle/>
          <a:p>
            <a:r>
              <a:rPr sz="1100">
                <a:solidFill>
                  <a:srgbClr val="595959"/>
                </a:solidFill>
              </a:rPr>
              <a:t>Fictional demo data  |  S-01 Meeting Room Booking Study  |  R-01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188720"/>
          </a:xfrm>
        </p:spPr>
        <p:txBody>
          <a:bodyPr wrap="square" anchor="t"/>
          <a:lstStyle/>
          <a:p>
            <a:pPr algn="l"/>
            <a:r>
              <a:rPr sz="3000" b="1">
                <a:solidFill>
                  <a:srgbClr val="1F2A44"/>
                </a:solidFill>
              </a:rPr>
              <a:t>People work around every pain point by hand</a:t>
            </a:r>
          </a:p>
        </p:txBody>
      </p:sp>
      <p:sp>
        <p:nvSpPr>
          <p:cNvPr id="3" name="Content Placeholder 2"/>
          <p:cNvSpPr>
            <a:spLocks noGrp="1"/>
          </p:cNvSpPr>
          <p:nvPr>
            <p:ph idx="1"/>
          </p:nvPr>
        </p:nvSpPr>
        <p:spPr>
          <a:xfrm>
            <a:off x="548640" y="1737360"/>
            <a:ext cx="11064240" cy="4480560"/>
          </a:xfrm>
        </p:spPr>
        <p:txBody>
          <a:bodyPr wrap="square"/>
          <a:lstStyle/>
          <a:p>
            <a:pPr>
              <a:spcAft>
                <a:spcPts val="800"/>
              </a:spcAft>
            </a:pPr>
            <a:r>
              <a:rPr sz="2400"/>
              <a:t>Empty rooms: look in the window, ping the booker in Teams, check the floor 3 tablet, or take the room anyway</a:t>
            </a:r>
          </a:p>
          <a:p>
            <a:pPr>
              <a:spcAft>
                <a:spcPts val="800"/>
              </a:spcAft>
            </a:pPr>
            <a:r>
              <a:rPr sz="2400"/>
              <a:t>Missing room details: a Teams cheat sheet kept by the office manager, or ask someone</a:t>
            </a:r>
          </a:p>
          <a:p>
            <a:pPr>
              <a:spcAft>
                <a:spcPts val="800"/>
              </a:spcAft>
            </a:pPr>
            <a:r>
              <a:rPr sz="2400"/>
              <a:t>Calendar gap: type the room name into the invite, or skip RoomBook and ask the office manager</a:t>
            </a:r>
          </a:p>
          <a:p>
            <a:pPr>
              <a:spcAft>
                <a:spcPts val="800"/>
              </a:spcAft>
            </a:pPr>
            <a:r>
              <a:rPr sz="2400"/>
              <a:t>Recurring series: leave skipped dates booked, or cancel and rebook</a:t>
            </a:r>
          </a:p>
        </p:txBody>
      </p:sp>
      <p:sp>
        <p:nvSpPr>
          <p:cNvPr id="4" name="Footer"/>
          <p:cNvSpPr txBox="1"/>
          <p:nvPr/>
        </p:nvSpPr>
        <p:spPr>
          <a:xfrm>
            <a:off x="548640" y="6400800"/>
            <a:ext cx="11064240" cy="274320"/>
          </a:xfrm>
          <a:prstGeom prst="rect">
            <a:avLst/>
          </a:prstGeom>
          <a:noFill/>
        </p:spPr>
        <p:txBody>
          <a:bodyPr wrap="none">
            <a:spAutoFit/>
          </a:bodyPr>
          <a:lstStyle/>
          <a:p>
            <a:r>
              <a:rPr sz="1100">
                <a:solidFill>
                  <a:srgbClr val="595959"/>
                </a:solidFill>
              </a:rPr>
              <a:t>Fictional demo data  |  S-01 Meeting Room Booking Study  |  R-01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188720"/>
          </a:xfrm>
        </p:spPr>
        <p:txBody>
          <a:bodyPr wrap="square" anchor="t"/>
          <a:lstStyle/>
          <a:p>
            <a:pPr algn="l"/>
            <a:r>
              <a:rPr sz="3000" b="1">
                <a:solidFill>
                  <a:srgbClr val="1F2A44"/>
                </a:solidFill>
              </a:rPr>
              <a:t>Insight: people book rooms they may not need because getting one back is hard</a:t>
            </a:r>
          </a:p>
        </p:txBody>
      </p:sp>
      <p:sp>
        <p:nvSpPr>
          <p:cNvPr id="3" name="Content Placeholder 2"/>
          <p:cNvSpPr>
            <a:spLocks noGrp="1"/>
          </p:cNvSpPr>
          <p:nvPr>
            <p:ph idx="1"/>
          </p:nvPr>
        </p:nvSpPr>
        <p:spPr>
          <a:xfrm>
            <a:off x="548640" y="1737360"/>
            <a:ext cx="11064240" cy="4480560"/>
          </a:xfrm>
        </p:spPr>
        <p:txBody>
          <a:bodyPr wrap="square"/>
          <a:lstStyle/>
          <a:p>
            <a:pPr>
              <a:spcAft>
                <a:spcPts val="800"/>
              </a:spcAft>
            </a:pPr>
            <a:r>
              <a:rPr sz="2400"/>
              <a:t>4 of 6 book "just in case" (P02, P03, P05, P06); the office manager says "everyone" does</a:t>
            </a:r>
          </a:p>
          <a:p>
            <a:pPr>
              <a:spcAft>
                <a:spcPts val="800"/>
              </a:spcAft>
            </a:pPr>
            <a:r>
              <a:rPr sz="2400"/>
              <a:t>"If I cancel, I lose it. Someone grabs it in minutes." (P05)</a:t>
            </a:r>
          </a:p>
          <a:p>
            <a:pPr>
              <a:spcAft>
                <a:spcPts val="800"/>
              </a:spcAft>
            </a:pPr>
            <a:r>
              <a:rPr sz="2400"/>
              <a:t>A new hire learned it in week one: "I book two and cancel one." (P06)</a:t>
            </a:r>
          </a:p>
          <a:p>
            <a:pPr>
              <a:spcAft>
                <a:spcPts val="800"/>
              </a:spcAft>
            </a:pPr>
            <a:r>
              <a:rPr sz="2400"/>
              <a:t>Our interpretation, not tested: empty bookings cause distrust, distrust causes defensive booking, which causes more empty bookings</a:t>
            </a:r>
          </a:p>
        </p:txBody>
      </p:sp>
      <p:sp>
        <p:nvSpPr>
          <p:cNvPr id="4" name="Footer"/>
          <p:cNvSpPr txBox="1"/>
          <p:nvPr/>
        </p:nvSpPr>
        <p:spPr>
          <a:xfrm>
            <a:off x="548640" y="6400800"/>
            <a:ext cx="11064240" cy="274320"/>
          </a:xfrm>
          <a:prstGeom prst="rect">
            <a:avLst/>
          </a:prstGeom>
          <a:noFill/>
        </p:spPr>
        <p:txBody>
          <a:bodyPr wrap="none">
            <a:spAutoFit/>
          </a:bodyPr>
          <a:lstStyle/>
          <a:p>
            <a:r>
              <a:rPr sz="1100">
                <a:solidFill>
                  <a:srgbClr val="595959"/>
                </a:solidFill>
              </a:rPr>
              <a:t>Fictional demo data  |  S-01 Meeting Room Booking Study  |  R-01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188720"/>
          </a:xfrm>
        </p:spPr>
        <p:txBody>
          <a:bodyPr wrap="square" anchor="t"/>
          <a:lstStyle/>
          <a:p>
            <a:pPr algn="l"/>
            <a:r>
              <a:rPr sz="3000" b="1">
                <a:solidFill>
                  <a:srgbClr val="1F2A44"/>
                </a:solidFill>
              </a:rPr>
              <a:t>Small rooms are booked and left empty most: 40.4% of their booked hours were unused</a:t>
            </a:r>
          </a:p>
        </p:txBody>
      </p:sp>
      <p:graphicFrame>
        <p:nvGraphicFramePr>
          <p:cNvPr id="3" name="Data table" descr="Table with columns: Room size, Unused share of booked hours. 3 data rows."/>
          <p:cNvGraphicFramePr>
            <a:graphicFrameLocks noGrp="1"/>
          </p:cNvGraphicFramePr>
          <p:nvPr/>
        </p:nvGraphicFramePr>
        <p:xfrm>
          <a:off x="548640" y="1737360"/>
          <a:ext cx="11064239" cy="2194560"/>
        </p:xfrm>
        <a:graphic>
          <a:graphicData uri="http://schemas.openxmlformats.org/drawingml/2006/table">
            <a:tbl>
              <a:tblPr firstRow="1" bandRow="1">
                <a:tableStyleId>{5C22544A-7EE6-4342-B048-85BDC9FD1C3A}</a:tableStyleId>
              </a:tblPr>
              <a:tblGrid>
                <a:gridCol w="4996753"/>
                <a:gridCol w="6067486"/>
              </a:tblGrid>
              <a:tr h="548640">
                <a:tc>
                  <a:txBody>
                    <a:bodyPr/>
                    <a:lstStyle/>
                    <a:p>
                      <a:r>
                        <a:rPr sz="1800"/>
                        <a:t>Room size</a:t>
                      </a:r>
                    </a:p>
                  </a:txBody>
                  <a:tcPr/>
                </a:tc>
                <a:tc>
                  <a:txBody>
                    <a:bodyPr/>
                    <a:lstStyle/>
                    <a:p>
                      <a:r>
                        <a:rPr sz="1800"/>
                        <a:t>Unused share of booked hours</a:t>
                      </a:r>
                    </a:p>
                  </a:txBody>
                  <a:tcPr/>
                </a:tc>
              </a:tr>
              <a:tr h="548640">
                <a:tc>
                  <a:txBody>
                    <a:bodyPr/>
                    <a:lstStyle/>
                    <a:p>
                      <a:r>
                        <a:rPr sz="1800"/>
                        <a:t>Small (4 seats)</a:t>
                      </a:r>
                    </a:p>
                  </a:txBody>
                  <a:tcPr/>
                </a:tc>
                <a:tc>
                  <a:txBody>
                    <a:bodyPr/>
                    <a:lstStyle/>
                    <a:p>
                      <a:r>
                        <a:rPr sz="1800"/>
                        <a:t>40.4%</a:t>
                      </a:r>
                    </a:p>
                  </a:txBody>
                  <a:tcPr/>
                </a:tc>
              </a:tr>
              <a:tr h="548640">
                <a:tc>
                  <a:txBody>
                    <a:bodyPr/>
                    <a:lstStyle/>
                    <a:p>
                      <a:r>
                        <a:rPr sz="1800"/>
                        <a:t>Medium (6 seats)</a:t>
                      </a:r>
                    </a:p>
                  </a:txBody>
                  <a:tcPr/>
                </a:tc>
                <a:tc>
                  <a:txBody>
                    <a:bodyPr/>
                    <a:lstStyle/>
                    <a:p>
                      <a:r>
                        <a:rPr sz="1800"/>
                        <a:t>30.0%</a:t>
                      </a:r>
                    </a:p>
                  </a:txBody>
                  <a:tcPr/>
                </a:tc>
              </a:tr>
              <a:tr h="548640">
                <a:tc>
                  <a:txBody>
                    <a:bodyPr/>
                    <a:lstStyle/>
                    <a:p>
                      <a:r>
                        <a:rPr sz="1800"/>
                        <a:t>Large (10 to 16 seats)</a:t>
                      </a:r>
                    </a:p>
                  </a:txBody>
                  <a:tcPr/>
                </a:tc>
                <a:tc>
                  <a:txBody>
                    <a:bodyPr/>
                    <a:lstStyle/>
                    <a:p>
                      <a:r>
                        <a:rPr sz="1800"/>
                        <a:t>25.0%</a:t>
                      </a:r>
                    </a:p>
                  </a:txBody>
                  <a:tcPr/>
                </a:tc>
              </a:tr>
            </a:tbl>
          </a:graphicData>
        </a:graphic>
      </p:graphicFrame>
      <p:sp>
        <p:nvSpPr>
          <p:cNvPr id="4" name="Notes under table"/>
          <p:cNvSpPr txBox="1"/>
          <p:nvPr/>
        </p:nvSpPr>
        <p:spPr>
          <a:xfrm>
            <a:off x="548640" y="4206240"/>
            <a:ext cx="11064240" cy="1371600"/>
          </a:xfrm>
          <a:prstGeom prst="rect">
            <a:avLst/>
          </a:prstGeom>
          <a:noFill/>
        </p:spPr>
        <p:txBody>
          <a:bodyPr wrap="square">
            <a:spAutoFit/>
          </a:bodyPr>
          <a:lstStyle/>
          <a:p>
            <a:pPr>
              <a:spcAft>
                <a:spcPts val="800"/>
              </a:spcAft>
            </a:pPr>
            <a:r>
              <a:rPr sz="2400"/>
              <a:t>Highest: Keel, 44.1%. Lowest: Bridge, 18.4%.</a:t>
            </a:r>
          </a:p>
        </p:txBody>
      </p:sp>
      <p:sp>
        <p:nvSpPr>
          <p:cNvPr id="5" name="Footer"/>
          <p:cNvSpPr txBox="1"/>
          <p:nvPr/>
        </p:nvSpPr>
        <p:spPr>
          <a:xfrm>
            <a:off x="548640" y="6400800"/>
            <a:ext cx="11064240" cy="274320"/>
          </a:xfrm>
          <a:prstGeom prst="rect">
            <a:avLst/>
          </a:prstGeom>
          <a:noFill/>
        </p:spPr>
        <p:txBody>
          <a:bodyPr wrap="none">
            <a:spAutoFit/>
          </a:bodyPr>
          <a:lstStyle/>
          <a:p>
            <a:r>
              <a:rPr sz="1100">
                <a:solidFill>
                  <a:srgbClr val="595959"/>
                </a:solidFill>
              </a:rPr>
              <a:t>Fictional demo data  |  S-01 Meeting Room Booking Study  |  R-01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188720"/>
          </a:xfrm>
        </p:spPr>
        <p:txBody>
          <a:bodyPr wrap="square" anchor="t"/>
          <a:lstStyle/>
          <a:p>
            <a:pPr algn="l"/>
            <a:r>
              <a:rPr sz="3000" b="1">
                <a:solidFill>
                  <a:srgbClr val="1F2A44"/>
                </a:solidFill>
              </a:rPr>
              <a:t>Ideas to explore and open questions (not decisions)</a:t>
            </a:r>
          </a:p>
        </p:txBody>
      </p:sp>
      <p:sp>
        <p:nvSpPr>
          <p:cNvPr id="3" name="Content Placeholder 2"/>
          <p:cNvSpPr>
            <a:spLocks noGrp="1"/>
          </p:cNvSpPr>
          <p:nvPr>
            <p:ph idx="1"/>
          </p:nvPr>
        </p:nvSpPr>
        <p:spPr>
          <a:xfrm>
            <a:off x="548640" y="1737360"/>
            <a:ext cx="11064240" cy="4480560"/>
          </a:xfrm>
        </p:spPr>
        <p:txBody>
          <a:bodyPr wrap="square"/>
          <a:lstStyle/>
          <a:p>
            <a:pPr>
              <a:spcAft>
                <a:spcPts val="800"/>
              </a:spcAft>
            </a:pPr>
            <a:r>
              <a:rPr sz="2400"/>
              <a:t>Ideas: show seats and equipment in the room list; write bookings to the calendar; let people release one date of a recurring series; release a booking automatically if no one arrives in 15 minutes</a:t>
            </a:r>
          </a:p>
          <a:p>
            <a:pPr>
              <a:spcAft>
                <a:spcPts val="800"/>
              </a:spcAft>
            </a:pPr>
            <a:r>
              <a:rPr sz="2400"/>
              <a:t>Open questions: would automatic release feel safe enough to stop defensive booking; how common are these problems across all staff; how often is the wrong room used</a:t>
            </a:r>
          </a:p>
        </p:txBody>
      </p:sp>
      <p:sp>
        <p:nvSpPr>
          <p:cNvPr id="4" name="Footer"/>
          <p:cNvSpPr txBox="1"/>
          <p:nvPr/>
        </p:nvSpPr>
        <p:spPr>
          <a:xfrm>
            <a:off x="548640" y="6400800"/>
            <a:ext cx="11064240" cy="274320"/>
          </a:xfrm>
          <a:prstGeom prst="rect">
            <a:avLst/>
          </a:prstGeom>
          <a:noFill/>
        </p:spPr>
        <p:txBody>
          <a:bodyPr wrap="none">
            <a:spAutoFit/>
          </a:bodyPr>
          <a:lstStyle/>
          <a:p>
            <a:r>
              <a:rPr sz="1100">
                <a:solidFill>
                  <a:srgbClr val="595959"/>
                </a:solidFill>
              </a:rPr>
              <a:t>Fictional demo data  |  S-01 Meeting Room Booking Study  |  R-01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188720"/>
          </a:xfrm>
        </p:spPr>
        <p:txBody>
          <a:bodyPr wrap="square" anchor="t"/>
          <a:lstStyle/>
          <a:p>
            <a:pPr algn="l"/>
            <a:r>
              <a:rPr sz="3000" b="1">
                <a:solidFill>
                  <a:srgbClr val="1F2A44"/>
                </a:solidFill>
              </a:rPr>
              <a:t>What this study can and cannot tell us</a:t>
            </a:r>
          </a:p>
        </p:txBody>
      </p:sp>
      <p:sp>
        <p:nvSpPr>
          <p:cNvPr id="3" name="Content Placeholder 2"/>
          <p:cNvSpPr>
            <a:spLocks noGrp="1"/>
          </p:cNvSpPr>
          <p:nvPr>
            <p:ph idx="1"/>
          </p:nvPr>
        </p:nvSpPr>
        <p:spPr>
          <a:xfrm>
            <a:off x="548640" y="1737360"/>
            <a:ext cx="11064240" cy="4480560"/>
          </a:xfrm>
        </p:spPr>
        <p:txBody>
          <a:bodyPr wrap="square"/>
          <a:lstStyle/>
          <a:p>
            <a:pPr>
              <a:spcAft>
                <a:spcPts val="800"/>
              </a:spcAft>
            </a:pPr>
            <a:r>
              <a:rPr sz="2400"/>
              <a:t>Six interviews at one site: shows kinds of problems, not how common they are</a:t>
            </a:r>
          </a:p>
          <a:p>
            <a:pPr>
              <a:spcAft>
                <a:spcPts val="800"/>
              </a:spcAft>
            </a:pPr>
            <a:r>
              <a:rPr sz="2400"/>
              <a:t>Usage data shows that rooms go unused, not why</a:t>
            </a:r>
          </a:p>
          <a:p>
            <a:pPr>
              <a:spcAft>
                <a:spcPts val="800"/>
              </a:spcAft>
            </a:pPr>
            <a:r>
              <a:rPr sz="2400"/>
              <a:t>All data in this repository is fictional</a:t>
            </a:r>
          </a:p>
        </p:txBody>
      </p:sp>
      <p:sp>
        <p:nvSpPr>
          <p:cNvPr id="4" name="Footer"/>
          <p:cNvSpPr txBox="1"/>
          <p:nvPr/>
        </p:nvSpPr>
        <p:spPr>
          <a:xfrm>
            <a:off x="548640" y="6400800"/>
            <a:ext cx="11064240" cy="274320"/>
          </a:xfrm>
          <a:prstGeom prst="rect">
            <a:avLst/>
          </a:prstGeom>
          <a:noFill/>
        </p:spPr>
        <p:txBody>
          <a:bodyPr wrap="none">
            <a:spAutoFit/>
          </a:bodyPr>
          <a:lstStyle/>
          <a:p>
            <a:r>
              <a:rPr sz="1100">
                <a:solidFill>
                  <a:srgbClr val="595959"/>
                </a:solidFill>
              </a:rPr>
              <a:t>Fictional demo data  |  S-01 Meeting Room Booking Study  |  R-01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Meeting Room Booking Study - Readout</dc:title>
  <dc:subject>S-01 Meeting Room Booking Study</dc:subject>
  <dc:creator>Maya Alvarez</dc:creator>
  <cp:keywords>R-01</cp:keywords>
  <dc:description>Fictional demo data.</dc:description>
  <cp:lastModifiedBy>Maya Alvarez</cp:lastModifiedBy>
  <cp:revision>1</cp:revision>
  <dcterms:created xsi:type="dcterms:W3CDTF">2026-10-02T09:00:00Z</dcterms:created>
  <dcterms:modified xsi:type="dcterms:W3CDTF">2026-10-02T09:00:00Z</dcterms:modified>
  <cp:category/>
</cp:coreProperties>
</file>